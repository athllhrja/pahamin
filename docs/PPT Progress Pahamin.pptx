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ptos Bold" charset="1" panose="020B0004020202020204"/>
      <p:regular r:id="rId13"/>
    </p:embeddedFont>
    <p:embeddedFont>
      <p:font typeface="Aptos" charset="1" panose="020B0004020202020204"/>
      <p:regular r:id="rId14"/>
    </p:embeddedFont>
    <p:embeddedFont>
      <p:font typeface="Calibri (MS)" charset="1" panose="020F05020202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539906"/>
            <a:ext cx="11631139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01 • LATAR BELAKANG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0523" y="1084774"/>
            <a:ext cx="16435492" cy="8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Belajar bukan cuma soal memahami materi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9686" y="1705559"/>
            <a:ext cx="16298227" cy="62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4AAD"/>
                </a:solidFill>
                <a:latin typeface="Aptos"/>
                <a:ea typeface="Aptos"/>
                <a:cs typeface="Aptos"/>
                <a:sym typeface="Aptos"/>
              </a:rPr>
              <a:t>PahaMIn dirancang untuk membantu mahasiswa mengelola tugas sekaligus memahami bahan belajar.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9686" y="2080231"/>
            <a:ext cx="988324" cy="61770"/>
            <a:chOff x="0" y="0"/>
            <a:chExt cx="1317765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752" cy="82423"/>
            </a:xfrm>
            <a:custGeom>
              <a:avLst/>
              <a:gdLst/>
              <a:ahLst/>
              <a:cxnLst/>
              <a:rect r="r" b="b" t="t" l="l"/>
              <a:pathLst>
                <a:path h="82423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47190" y="9727282"/>
            <a:ext cx="1267463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B9C6D8"/>
                </a:solidFill>
                <a:latin typeface="Aptos Bold"/>
                <a:ea typeface="Aptos Bold"/>
                <a:cs typeface="Aptos Bold"/>
                <a:sym typeface="Aptos Bold"/>
              </a:rPr>
              <a:t>02  /  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0523" y="3103830"/>
            <a:ext cx="5216157" cy="3500314"/>
            <a:chOff x="0" y="0"/>
            <a:chExt cx="6954876" cy="46670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54901" cy="4667123"/>
            </a:xfrm>
            <a:custGeom>
              <a:avLst/>
              <a:gdLst/>
              <a:ahLst/>
              <a:cxnLst/>
              <a:rect r="r" b="b" t="t" l="l"/>
              <a:pathLst>
                <a:path h="4667123" w="6954901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lnTo>
                    <a:pt x="6177026" y="0"/>
                  </a:lnTo>
                  <a:cubicBezTo>
                    <a:pt x="6606667" y="0"/>
                    <a:pt x="6954901" y="348234"/>
                    <a:pt x="6954901" y="777875"/>
                  </a:cubicBezTo>
                  <a:lnTo>
                    <a:pt x="6954901" y="3889248"/>
                  </a:lnTo>
                  <a:cubicBezTo>
                    <a:pt x="6954901" y="4318889"/>
                    <a:pt x="6606667" y="4667123"/>
                    <a:pt x="6177026" y="4667123"/>
                  </a:cubicBezTo>
                  <a:lnTo>
                    <a:pt x="777875" y="4667123"/>
                  </a:lnTo>
                  <a:cubicBezTo>
                    <a:pt x="348234" y="4667123"/>
                    <a:pt x="0" y="4318762"/>
                    <a:pt x="0" y="388924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36048" y="3518490"/>
            <a:ext cx="4603061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255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  Tugas menumpuk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6048" y="4188398"/>
            <a:ext cx="4603061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Mahasiswa perlu memilah tugas berdasarkan tingkat kepentingan dan urgensi agar prioritas lebih jelas.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83572" y="3103830"/>
            <a:ext cx="5216157" cy="3500314"/>
            <a:chOff x="0" y="0"/>
            <a:chExt cx="6954876" cy="46670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54901" cy="4667123"/>
            </a:xfrm>
            <a:custGeom>
              <a:avLst/>
              <a:gdLst/>
              <a:ahLst/>
              <a:cxnLst/>
              <a:rect r="r" b="b" t="t" l="l"/>
              <a:pathLst>
                <a:path h="4667123" w="6954901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lnTo>
                    <a:pt x="6177026" y="0"/>
                  </a:lnTo>
                  <a:cubicBezTo>
                    <a:pt x="6606667" y="0"/>
                    <a:pt x="6954901" y="348234"/>
                    <a:pt x="6954901" y="777875"/>
                  </a:cubicBezTo>
                  <a:lnTo>
                    <a:pt x="6954901" y="3889248"/>
                  </a:lnTo>
                  <a:cubicBezTo>
                    <a:pt x="6954901" y="4318889"/>
                    <a:pt x="6606667" y="4667123"/>
                    <a:pt x="6177026" y="4667123"/>
                  </a:cubicBezTo>
                  <a:lnTo>
                    <a:pt x="777875" y="4667123"/>
                  </a:lnTo>
                  <a:cubicBezTo>
                    <a:pt x="348234" y="4667123"/>
                    <a:pt x="0" y="4318762"/>
                    <a:pt x="0" y="388924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790120" y="3518490"/>
            <a:ext cx="4603061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255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  Materi panjang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67270" y="4188398"/>
            <a:ext cx="4603061" cy="234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Materi berbentuk PDF bisa memakan waktu untuk dibaca ulang saat mencari konsep tertentu.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6621" y="3103830"/>
            <a:ext cx="5216157" cy="3500314"/>
            <a:chOff x="0" y="0"/>
            <a:chExt cx="6954876" cy="46670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54901" cy="4667123"/>
            </a:xfrm>
            <a:custGeom>
              <a:avLst/>
              <a:gdLst/>
              <a:ahLst/>
              <a:cxnLst/>
              <a:rect r="r" b="b" t="t" l="l"/>
              <a:pathLst>
                <a:path h="4667123" w="6954901">
                  <a:moveTo>
                    <a:pt x="0" y="777875"/>
                  </a:moveTo>
                  <a:cubicBezTo>
                    <a:pt x="0" y="348234"/>
                    <a:pt x="348234" y="0"/>
                    <a:pt x="777875" y="0"/>
                  </a:cubicBezTo>
                  <a:lnTo>
                    <a:pt x="6177026" y="0"/>
                  </a:lnTo>
                  <a:cubicBezTo>
                    <a:pt x="6606667" y="0"/>
                    <a:pt x="6954901" y="348234"/>
                    <a:pt x="6954901" y="777875"/>
                  </a:cubicBezTo>
                  <a:lnTo>
                    <a:pt x="6954901" y="3889248"/>
                  </a:lnTo>
                  <a:cubicBezTo>
                    <a:pt x="6954901" y="4318889"/>
                    <a:pt x="6606667" y="4667123"/>
                    <a:pt x="6177026" y="4667123"/>
                  </a:cubicBezTo>
                  <a:lnTo>
                    <a:pt x="777875" y="4667123"/>
                  </a:lnTo>
                  <a:cubicBezTo>
                    <a:pt x="348234" y="4667123"/>
                    <a:pt x="0" y="4318762"/>
                    <a:pt x="0" y="388924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63863" y="3570511"/>
            <a:ext cx="460306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255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  Butuh bantuan kontekstual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3863" y="4188398"/>
            <a:ext cx="4603061" cy="234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Tanya jawab sebaiknya mengacu pada dokumen yang sedang dipelajari, bukan jawaban umum tanpa konteks.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0523" y="7380108"/>
            <a:ext cx="270876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Gagasan utama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0523" y="7888000"/>
            <a:ext cx="1602368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b="true" sz="3152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Satu aplikasi untuk mengatur prioritas dan membantu memahami materi dengan lebih terarah.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539906"/>
            <a:ext cx="11631139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02 • SOLUSI &amp; FITUR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0523" y="1084774"/>
            <a:ext cx="16435492" cy="8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Dua fitur utama, satu alur belajar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709" y="1967484"/>
            <a:ext cx="1629822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4AAD"/>
                </a:solidFill>
                <a:latin typeface="Aptos"/>
                <a:ea typeface="Aptos"/>
                <a:cs typeface="Aptos"/>
                <a:sym typeface="Aptos"/>
              </a:rPr>
              <a:t>SKPL menetapkan kebutuhan. DPPL v1.3 merancang solusi untuk demo lokal.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0523" y="2547461"/>
            <a:ext cx="988324" cy="61770"/>
            <a:chOff x="0" y="0"/>
            <a:chExt cx="1317765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752" cy="82423"/>
            </a:xfrm>
            <a:custGeom>
              <a:avLst/>
              <a:gdLst/>
              <a:ahLst/>
              <a:cxnLst/>
              <a:rect r="r" b="b" t="t" l="l"/>
              <a:pathLst>
                <a:path h="82423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47190" y="9727282"/>
            <a:ext cx="1267463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b="true" sz="135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03  /  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324" y="3137592"/>
            <a:ext cx="7961500" cy="4735716"/>
            <a:chOff x="0" y="0"/>
            <a:chExt cx="10615333" cy="6314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422" cy="6314313"/>
            </a:xfrm>
            <a:custGeom>
              <a:avLst/>
              <a:gdLst/>
              <a:ahLst/>
              <a:cxnLst/>
              <a:rect r="r" b="b" t="t" l="l"/>
              <a:pathLst>
                <a:path h="6314313" w="10615422">
                  <a:moveTo>
                    <a:pt x="0" y="1052449"/>
                  </a:moveTo>
                  <a:cubicBezTo>
                    <a:pt x="0" y="471170"/>
                    <a:pt x="471170" y="0"/>
                    <a:pt x="1052449" y="0"/>
                  </a:cubicBezTo>
                  <a:lnTo>
                    <a:pt x="9562973" y="0"/>
                  </a:lnTo>
                  <a:cubicBezTo>
                    <a:pt x="10144252" y="0"/>
                    <a:pt x="10615422" y="471170"/>
                    <a:pt x="10615422" y="1052449"/>
                  </a:cubicBezTo>
                  <a:lnTo>
                    <a:pt x="10615422" y="5261864"/>
                  </a:lnTo>
                  <a:cubicBezTo>
                    <a:pt x="10615422" y="5843143"/>
                    <a:pt x="10144252" y="6314313"/>
                    <a:pt x="9562973" y="6314313"/>
                  </a:cubicBezTo>
                  <a:lnTo>
                    <a:pt x="1052449" y="6314313"/>
                  </a:lnTo>
                  <a:cubicBezTo>
                    <a:pt x="471170" y="6314313"/>
                    <a:pt x="0" y="5843143"/>
                    <a:pt x="0" y="5261864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4871" y="3971925"/>
            <a:ext cx="734840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Matriks Tugas - Eisenhower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871" y="4743450"/>
            <a:ext cx="734840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Buat, ubah, pindahkan, dan hapus tugas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Kelompokkan menurut penting dan mendesak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Empat kuadran: Lakukan, Jadwalkan, Delegasikan, Abaikan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Tandai selesai; pindah via drag-and-drop atau menu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84516" y="3137592"/>
            <a:ext cx="7961500" cy="4735716"/>
            <a:chOff x="0" y="0"/>
            <a:chExt cx="10615333" cy="6314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15422" cy="6314313"/>
            </a:xfrm>
            <a:custGeom>
              <a:avLst/>
              <a:gdLst/>
              <a:ahLst/>
              <a:cxnLst/>
              <a:rect r="r" b="b" t="t" l="l"/>
              <a:pathLst>
                <a:path h="6314313" w="10615422">
                  <a:moveTo>
                    <a:pt x="0" y="1052449"/>
                  </a:moveTo>
                  <a:cubicBezTo>
                    <a:pt x="0" y="471170"/>
                    <a:pt x="471170" y="0"/>
                    <a:pt x="1052449" y="0"/>
                  </a:cubicBezTo>
                  <a:lnTo>
                    <a:pt x="9562973" y="0"/>
                  </a:lnTo>
                  <a:cubicBezTo>
                    <a:pt x="10144252" y="0"/>
                    <a:pt x="10615422" y="471170"/>
                    <a:pt x="10615422" y="1052449"/>
                  </a:cubicBezTo>
                  <a:lnTo>
                    <a:pt x="10615422" y="5261864"/>
                  </a:lnTo>
                  <a:cubicBezTo>
                    <a:pt x="10615422" y="5843143"/>
                    <a:pt x="10144252" y="6314313"/>
                    <a:pt x="9562973" y="6314313"/>
                  </a:cubicBezTo>
                  <a:lnTo>
                    <a:pt x="1052449" y="6314313"/>
                  </a:lnTo>
                  <a:cubicBezTo>
                    <a:pt x="471170" y="6314313"/>
                    <a:pt x="0" y="5843143"/>
                    <a:pt x="0" y="5261864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01533" y="3971925"/>
            <a:ext cx="734840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Ruang Paham - RAG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01533" y="4743450"/>
            <a:ext cx="7348404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Unggah dan proses PDF hingga 20 halaman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Ringkasan paragraf dan poin kunci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Tanya jawab dari maks. 5 potongan, dengan halaman sumber</a:t>
            </a:r>
          </a:p>
          <a:p>
            <a:pPr algn="l">
              <a:lnSpc>
                <a:spcPts val="3001"/>
              </a:lnSpc>
            </a:pPr>
            <a:r>
              <a:rPr lang="en-US" sz="2501">
                <a:solidFill>
                  <a:srgbClr val="F8FAFC"/>
                </a:solidFill>
                <a:latin typeface="Aptos"/>
                <a:ea typeface="Aptos"/>
                <a:cs typeface="Aptos"/>
                <a:sym typeface="Aptos"/>
              </a:rPr>
              <a:t>• Riwayat chat tersimpan per dokumen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539906"/>
            <a:ext cx="11631139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03 • PLATFORM &amp; ALUR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0523" y="1084774"/>
            <a:ext cx="16435492" cy="8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Platform web dengan alur pemrosesan yang terpisah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709" y="1967484"/>
            <a:ext cx="16298227" cy="62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4AAD"/>
                </a:solidFill>
                <a:latin typeface="Aptos"/>
                <a:ea typeface="Aptos"/>
                <a:cs typeface="Aptos"/>
                <a:sym typeface="Aptos"/>
              </a:rPr>
              <a:t>Target penggunaan pada browser; versi rancangan ditujukan untuk demo lokal, bukan deployment production.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9686" y="2772794"/>
            <a:ext cx="988324" cy="61770"/>
            <a:chOff x="0" y="0"/>
            <a:chExt cx="1317765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752" cy="82423"/>
            </a:xfrm>
            <a:custGeom>
              <a:avLst/>
              <a:gdLst/>
              <a:ahLst/>
              <a:cxnLst/>
              <a:rect r="r" b="b" t="t" l="l"/>
              <a:pathLst>
                <a:path h="82423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47190" y="9727282"/>
            <a:ext cx="1267463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B9C6D8"/>
                </a:solidFill>
                <a:latin typeface="Aptos Bold"/>
                <a:ea typeface="Aptos Bold"/>
                <a:cs typeface="Aptos Bold"/>
                <a:sym typeface="Aptos Bold"/>
              </a:rPr>
              <a:t>04  /  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500" y="3322495"/>
            <a:ext cx="3116587" cy="2442730"/>
            <a:chOff x="0" y="0"/>
            <a:chExt cx="3385922" cy="26538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85947" cy="2653919"/>
            </a:xfrm>
            <a:custGeom>
              <a:avLst/>
              <a:gdLst/>
              <a:ahLst/>
              <a:cxnLst/>
              <a:rect r="r" b="b" t="t" l="l"/>
              <a:pathLst>
                <a:path h="2653919" w="3385947">
                  <a:moveTo>
                    <a:pt x="0" y="442341"/>
                  </a:moveTo>
                  <a:cubicBezTo>
                    <a:pt x="0" y="197993"/>
                    <a:pt x="197993" y="0"/>
                    <a:pt x="442341" y="0"/>
                  </a:cubicBezTo>
                  <a:lnTo>
                    <a:pt x="2943606" y="0"/>
                  </a:lnTo>
                  <a:cubicBezTo>
                    <a:pt x="3187827" y="0"/>
                    <a:pt x="3385947" y="197993"/>
                    <a:pt x="3385947" y="442341"/>
                  </a:cubicBezTo>
                  <a:lnTo>
                    <a:pt x="3385947" y="2211578"/>
                  </a:lnTo>
                  <a:cubicBezTo>
                    <a:pt x="3385947" y="2455799"/>
                    <a:pt x="3187954" y="2653919"/>
                    <a:pt x="2943606" y="2653919"/>
                  </a:cubicBezTo>
                  <a:lnTo>
                    <a:pt x="442341" y="2653919"/>
                  </a:lnTo>
                  <a:cubicBezTo>
                    <a:pt x="197993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500" y="3322495"/>
            <a:ext cx="3116587" cy="151616"/>
            <a:chOff x="0" y="0"/>
            <a:chExt cx="3385922" cy="164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5947" cy="164719"/>
            </a:xfrm>
            <a:custGeom>
              <a:avLst/>
              <a:gdLst/>
              <a:ahLst/>
              <a:cxnLst/>
              <a:rect r="r" b="b" t="t" l="l"/>
              <a:pathLst>
                <a:path h="164719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2CC9B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54107" y="3799789"/>
            <a:ext cx="2667384" cy="49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2947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Browser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4107" y="4574727"/>
            <a:ext cx="2667384" cy="88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Mahasiswa</a:t>
            </a:r>
          </a:p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mengakses UI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41115" y="3322495"/>
            <a:ext cx="3116587" cy="2442730"/>
            <a:chOff x="0" y="0"/>
            <a:chExt cx="3385922" cy="26538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85947" cy="2653919"/>
            </a:xfrm>
            <a:custGeom>
              <a:avLst/>
              <a:gdLst/>
              <a:ahLst/>
              <a:cxnLst/>
              <a:rect r="r" b="b" t="t" l="l"/>
              <a:pathLst>
                <a:path h="2653919" w="3385947">
                  <a:moveTo>
                    <a:pt x="0" y="442341"/>
                  </a:moveTo>
                  <a:cubicBezTo>
                    <a:pt x="0" y="197993"/>
                    <a:pt x="197993" y="0"/>
                    <a:pt x="442341" y="0"/>
                  </a:cubicBezTo>
                  <a:lnTo>
                    <a:pt x="2943606" y="0"/>
                  </a:lnTo>
                  <a:cubicBezTo>
                    <a:pt x="3187827" y="0"/>
                    <a:pt x="3385947" y="197993"/>
                    <a:pt x="3385947" y="442341"/>
                  </a:cubicBezTo>
                  <a:lnTo>
                    <a:pt x="3385947" y="2211578"/>
                  </a:lnTo>
                  <a:cubicBezTo>
                    <a:pt x="3385947" y="2455799"/>
                    <a:pt x="3187954" y="2653919"/>
                    <a:pt x="2943606" y="2653919"/>
                  </a:cubicBezTo>
                  <a:lnTo>
                    <a:pt x="442341" y="2653919"/>
                  </a:lnTo>
                  <a:cubicBezTo>
                    <a:pt x="197993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241115" y="3322495"/>
            <a:ext cx="3116587" cy="151616"/>
            <a:chOff x="0" y="0"/>
            <a:chExt cx="3385922" cy="1647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85947" cy="164719"/>
            </a:xfrm>
            <a:custGeom>
              <a:avLst/>
              <a:gdLst/>
              <a:ahLst/>
              <a:cxnLst/>
              <a:rect r="r" b="b" t="t" l="l"/>
              <a:pathLst>
                <a:path h="164719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71DCD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465711" y="3799789"/>
            <a:ext cx="2667384" cy="49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2947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Next.js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65711" y="4574727"/>
            <a:ext cx="2667384" cy="88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UI dan route handler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52719" y="3322495"/>
            <a:ext cx="3116587" cy="2442730"/>
            <a:chOff x="0" y="0"/>
            <a:chExt cx="3385922" cy="26538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85947" cy="2653919"/>
            </a:xfrm>
            <a:custGeom>
              <a:avLst/>
              <a:gdLst/>
              <a:ahLst/>
              <a:cxnLst/>
              <a:rect r="r" b="b" t="t" l="l"/>
              <a:pathLst>
                <a:path h="2653919" w="3385947">
                  <a:moveTo>
                    <a:pt x="0" y="442341"/>
                  </a:moveTo>
                  <a:cubicBezTo>
                    <a:pt x="0" y="197993"/>
                    <a:pt x="197993" y="0"/>
                    <a:pt x="442341" y="0"/>
                  </a:cubicBezTo>
                  <a:lnTo>
                    <a:pt x="2943606" y="0"/>
                  </a:lnTo>
                  <a:cubicBezTo>
                    <a:pt x="3187827" y="0"/>
                    <a:pt x="3385947" y="197993"/>
                    <a:pt x="3385947" y="442341"/>
                  </a:cubicBezTo>
                  <a:lnTo>
                    <a:pt x="3385947" y="2211578"/>
                  </a:lnTo>
                  <a:cubicBezTo>
                    <a:pt x="3385947" y="2455799"/>
                    <a:pt x="3187954" y="2653919"/>
                    <a:pt x="2943606" y="2653919"/>
                  </a:cubicBezTo>
                  <a:lnTo>
                    <a:pt x="442341" y="2653919"/>
                  </a:lnTo>
                  <a:cubicBezTo>
                    <a:pt x="197993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52719" y="3322495"/>
            <a:ext cx="3116587" cy="151616"/>
            <a:chOff x="0" y="0"/>
            <a:chExt cx="3385922" cy="1647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5947" cy="164719"/>
            </a:xfrm>
            <a:custGeom>
              <a:avLst/>
              <a:gdLst/>
              <a:ahLst/>
              <a:cxnLst/>
              <a:rect r="r" b="b" t="t" l="l"/>
              <a:pathLst>
                <a:path h="164719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FFB14A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77326" y="3799789"/>
            <a:ext cx="2667384" cy="49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2947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77326" y="4574727"/>
            <a:ext cx="2667384" cy="88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Validasi dan proses PDF/RAG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664334" y="3322495"/>
            <a:ext cx="3116587" cy="2442730"/>
            <a:chOff x="0" y="0"/>
            <a:chExt cx="3385922" cy="26538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85947" cy="2653919"/>
            </a:xfrm>
            <a:custGeom>
              <a:avLst/>
              <a:gdLst/>
              <a:ahLst/>
              <a:cxnLst/>
              <a:rect r="r" b="b" t="t" l="l"/>
              <a:pathLst>
                <a:path h="2653919" w="3385947">
                  <a:moveTo>
                    <a:pt x="0" y="442341"/>
                  </a:moveTo>
                  <a:cubicBezTo>
                    <a:pt x="0" y="197993"/>
                    <a:pt x="197993" y="0"/>
                    <a:pt x="442341" y="0"/>
                  </a:cubicBezTo>
                  <a:lnTo>
                    <a:pt x="2943606" y="0"/>
                  </a:lnTo>
                  <a:cubicBezTo>
                    <a:pt x="3187827" y="0"/>
                    <a:pt x="3385947" y="197993"/>
                    <a:pt x="3385947" y="442341"/>
                  </a:cubicBezTo>
                  <a:lnTo>
                    <a:pt x="3385947" y="2211578"/>
                  </a:lnTo>
                  <a:cubicBezTo>
                    <a:pt x="3385947" y="2455799"/>
                    <a:pt x="3187954" y="2653919"/>
                    <a:pt x="2943606" y="2653919"/>
                  </a:cubicBezTo>
                  <a:lnTo>
                    <a:pt x="442341" y="2653919"/>
                  </a:lnTo>
                  <a:cubicBezTo>
                    <a:pt x="197993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64334" y="3322495"/>
            <a:ext cx="3116587" cy="151616"/>
            <a:chOff x="0" y="0"/>
            <a:chExt cx="3385922" cy="1647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5947" cy="164719"/>
            </a:xfrm>
            <a:custGeom>
              <a:avLst/>
              <a:gdLst/>
              <a:ahLst/>
              <a:cxnLst/>
              <a:rect r="r" b="b" t="t" l="l"/>
              <a:pathLst>
                <a:path h="164719" w="3385947">
                  <a:moveTo>
                    <a:pt x="0" y="0"/>
                  </a:moveTo>
                  <a:lnTo>
                    <a:pt x="3385947" y="0"/>
                  </a:lnTo>
                  <a:lnTo>
                    <a:pt x="338594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58D68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888930" y="3799789"/>
            <a:ext cx="2667384" cy="49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2947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Ollama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88930" y="4574727"/>
            <a:ext cx="2667384" cy="881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Embedding dan generasi AI lokal</a:t>
            </a:r>
          </a:p>
        </p:txBody>
      </p:sp>
      <p:sp>
        <p:nvSpPr>
          <p:cNvPr name="AutoShape 32" id="32"/>
          <p:cNvSpPr/>
          <p:nvPr/>
        </p:nvSpPr>
        <p:spPr>
          <a:xfrm>
            <a:off x="4324859" y="4512039"/>
            <a:ext cx="754340" cy="46798"/>
          </a:xfrm>
          <a:prstGeom prst="line">
            <a:avLst/>
          </a:prstGeom>
          <a:ln cap="rnd" w="19050">
            <a:solidFill>
              <a:srgbClr val="121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8536463" y="4512039"/>
            <a:ext cx="754340" cy="46798"/>
          </a:xfrm>
          <a:prstGeom prst="line">
            <a:avLst/>
          </a:prstGeom>
          <a:ln cap="rnd" w="19050">
            <a:solidFill>
              <a:srgbClr val="121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12748078" y="4512039"/>
            <a:ext cx="754340" cy="46798"/>
          </a:xfrm>
          <a:prstGeom prst="line">
            <a:avLst/>
          </a:prstGeom>
          <a:ln cap="rnd" w="19050">
            <a:solidFill>
              <a:srgbClr val="121E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2745343" y="6657461"/>
            <a:ext cx="5490686" cy="1372676"/>
            <a:chOff x="0" y="0"/>
            <a:chExt cx="7320915" cy="18302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20915" cy="1830197"/>
            </a:xfrm>
            <a:custGeom>
              <a:avLst/>
              <a:gdLst/>
              <a:ahLst/>
              <a:cxnLst/>
              <a:rect r="r" b="b" t="t" l="l"/>
              <a:pathLst>
                <a:path h="1830197" w="732091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015861" y="0"/>
                  </a:lnTo>
                  <a:cubicBezTo>
                    <a:pt x="7184390" y="0"/>
                    <a:pt x="7320915" y="136525"/>
                    <a:pt x="7320915" y="305054"/>
                  </a:cubicBezTo>
                  <a:lnTo>
                    <a:pt x="7320915" y="1525143"/>
                  </a:lnTo>
                  <a:cubicBezTo>
                    <a:pt x="7320915" y="1693672"/>
                    <a:pt x="7184390" y="1830197"/>
                    <a:pt x="7015861" y="1830197"/>
                  </a:cubicBezTo>
                  <a:lnTo>
                    <a:pt x="305054" y="1830197"/>
                  </a:lnTo>
                  <a:cubicBezTo>
                    <a:pt x="136525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3038170" y="6909102"/>
            <a:ext cx="1953797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Supabase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28543" y="6922827"/>
            <a:ext cx="291466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Auth • PostgreSQL/pgvector • Storage privat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853735" y="6657461"/>
            <a:ext cx="5490686" cy="1372676"/>
            <a:chOff x="0" y="0"/>
            <a:chExt cx="7320915" cy="18302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20915" cy="1830197"/>
            </a:xfrm>
            <a:custGeom>
              <a:avLst/>
              <a:gdLst/>
              <a:ahLst/>
              <a:cxnLst/>
              <a:rect r="r" b="b" t="t" l="l"/>
              <a:pathLst>
                <a:path h="1830197" w="7320915">
                  <a:moveTo>
                    <a:pt x="0" y="305054"/>
                  </a:moveTo>
                  <a:cubicBezTo>
                    <a:pt x="0" y="136525"/>
                    <a:pt x="136525" y="0"/>
                    <a:pt x="305054" y="0"/>
                  </a:cubicBezTo>
                  <a:lnTo>
                    <a:pt x="7015861" y="0"/>
                  </a:lnTo>
                  <a:cubicBezTo>
                    <a:pt x="7184390" y="0"/>
                    <a:pt x="7320915" y="136525"/>
                    <a:pt x="7320915" y="305054"/>
                  </a:cubicBezTo>
                  <a:lnTo>
                    <a:pt x="7320915" y="1525143"/>
                  </a:lnTo>
                  <a:cubicBezTo>
                    <a:pt x="7320915" y="1693672"/>
                    <a:pt x="7184390" y="1830197"/>
                    <a:pt x="7015861" y="1830197"/>
                  </a:cubicBezTo>
                  <a:lnTo>
                    <a:pt x="305054" y="1830197"/>
                  </a:lnTo>
                  <a:cubicBezTo>
                    <a:pt x="136525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215190" y="6909102"/>
            <a:ext cx="1885169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PyMuPDF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09484" y="6922827"/>
            <a:ext cx="2846032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Ekstraksi teks dari PDF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59592" y="8734758"/>
            <a:ext cx="1547462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b="true" sz="18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Demo lokal: browser mengakses AI melalui Next.js dan FastAPI; layanan terikat ke 127.0.0.1.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539906"/>
            <a:ext cx="11631139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04 • TECH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0523" y="1084774"/>
            <a:ext cx="16435492" cy="8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Teknologi yang direncanakan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709" y="1967484"/>
            <a:ext cx="16298227" cy="62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4AAD"/>
                </a:solidFill>
                <a:latin typeface="Aptos"/>
                <a:ea typeface="Aptos"/>
                <a:cs typeface="Aptos"/>
                <a:sym typeface="Aptos"/>
              </a:rPr>
              <a:t>Stack disusun agar UI, data, penyimpanan dokumen, dan pemrosesan AI memiliki tanggung jawab masing-masing.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9686" y="2772794"/>
            <a:ext cx="988324" cy="61770"/>
            <a:chOff x="0" y="0"/>
            <a:chExt cx="1317765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752" cy="82423"/>
            </a:xfrm>
            <a:custGeom>
              <a:avLst/>
              <a:gdLst/>
              <a:ahLst/>
              <a:cxnLst/>
              <a:rect r="r" b="b" t="t" l="l"/>
              <a:pathLst>
                <a:path h="82423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47190" y="9727282"/>
            <a:ext cx="1267463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B9C6D8"/>
                </a:solidFill>
                <a:latin typeface="Aptos Bold"/>
                <a:ea typeface="Aptos Bold"/>
                <a:cs typeface="Aptos Bold"/>
                <a:sym typeface="Aptos Bold"/>
              </a:rPr>
              <a:t>05  /  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500" y="3363049"/>
            <a:ext cx="5188706" cy="1894284"/>
            <a:chOff x="0" y="0"/>
            <a:chExt cx="6918274" cy="2525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18325" cy="2525776"/>
            </a:xfrm>
            <a:custGeom>
              <a:avLst/>
              <a:gdLst/>
              <a:ahLst/>
              <a:cxnLst/>
              <a:rect r="r" b="b" t="t" l="l"/>
              <a:pathLst>
                <a:path h="2525776" w="6918325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lnTo>
                    <a:pt x="6497320" y="0"/>
                  </a:lnTo>
                  <a:cubicBezTo>
                    <a:pt x="6729857" y="0"/>
                    <a:pt x="6918325" y="188468"/>
                    <a:pt x="6918325" y="421005"/>
                  </a:cubicBezTo>
                  <a:lnTo>
                    <a:pt x="6918325" y="2104771"/>
                  </a:lnTo>
                  <a:cubicBezTo>
                    <a:pt x="6918325" y="2337308"/>
                    <a:pt x="6729857" y="2525776"/>
                    <a:pt x="6497320" y="2525776"/>
                  </a:cubicBezTo>
                  <a:lnTo>
                    <a:pt x="421005" y="2525776"/>
                  </a:lnTo>
                  <a:cubicBezTo>
                    <a:pt x="188468" y="2525776"/>
                    <a:pt x="0" y="2337308"/>
                    <a:pt x="0" y="210477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500" y="3363049"/>
            <a:ext cx="96088" cy="1894284"/>
            <a:chOff x="0" y="0"/>
            <a:chExt cx="128118" cy="25257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2525776"/>
            </a:xfrm>
            <a:custGeom>
              <a:avLst/>
              <a:gdLst/>
              <a:ahLst/>
              <a:cxnLst/>
              <a:rect r="r" b="b" t="t" l="l"/>
              <a:pathLst>
                <a:path h="2525776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2CC9B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49778" y="3628415"/>
            <a:ext cx="457560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9778" y="4314749"/>
            <a:ext cx="4575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Next.js 16 • React 19 • TypeScript • Tailwind v4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26098" y="3363049"/>
            <a:ext cx="5188706" cy="1894284"/>
            <a:chOff x="0" y="0"/>
            <a:chExt cx="6918274" cy="2525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18325" cy="2525776"/>
            </a:xfrm>
            <a:custGeom>
              <a:avLst/>
              <a:gdLst/>
              <a:ahLst/>
              <a:cxnLst/>
              <a:rect r="r" b="b" t="t" l="l"/>
              <a:pathLst>
                <a:path h="2525776" w="6918325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lnTo>
                    <a:pt x="6497320" y="0"/>
                  </a:lnTo>
                  <a:cubicBezTo>
                    <a:pt x="6729857" y="0"/>
                    <a:pt x="6918325" y="188468"/>
                    <a:pt x="6918325" y="421005"/>
                  </a:cubicBezTo>
                  <a:lnTo>
                    <a:pt x="6918325" y="2104771"/>
                  </a:lnTo>
                  <a:cubicBezTo>
                    <a:pt x="6918325" y="2337308"/>
                    <a:pt x="6729857" y="2525776"/>
                    <a:pt x="6497320" y="2525776"/>
                  </a:cubicBezTo>
                  <a:lnTo>
                    <a:pt x="421005" y="2525776"/>
                  </a:lnTo>
                  <a:cubicBezTo>
                    <a:pt x="188468" y="2525776"/>
                    <a:pt x="0" y="2337308"/>
                    <a:pt x="0" y="210477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26098" y="3363049"/>
            <a:ext cx="96088" cy="1894284"/>
            <a:chOff x="0" y="0"/>
            <a:chExt cx="128118" cy="25257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143" cy="2525776"/>
            </a:xfrm>
            <a:custGeom>
              <a:avLst/>
              <a:gdLst/>
              <a:ahLst/>
              <a:cxnLst/>
              <a:rect r="r" b="b" t="t" l="l"/>
              <a:pathLst>
                <a:path h="2525776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71DCD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046366" y="3628415"/>
            <a:ext cx="457560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Auth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46366" y="4314749"/>
            <a:ext cx="4575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Supabase Auth • SSR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422686" y="3363049"/>
            <a:ext cx="5188706" cy="1894284"/>
            <a:chOff x="0" y="0"/>
            <a:chExt cx="6918274" cy="25257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18325" cy="2525776"/>
            </a:xfrm>
            <a:custGeom>
              <a:avLst/>
              <a:gdLst/>
              <a:ahLst/>
              <a:cxnLst/>
              <a:rect r="r" b="b" t="t" l="l"/>
              <a:pathLst>
                <a:path h="2525776" w="6918325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lnTo>
                    <a:pt x="6497320" y="0"/>
                  </a:lnTo>
                  <a:cubicBezTo>
                    <a:pt x="6729857" y="0"/>
                    <a:pt x="6918325" y="188468"/>
                    <a:pt x="6918325" y="421005"/>
                  </a:cubicBezTo>
                  <a:lnTo>
                    <a:pt x="6918325" y="2104771"/>
                  </a:lnTo>
                  <a:cubicBezTo>
                    <a:pt x="6918325" y="2337308"/>
                    <a:pt x="6729857" y="2525776"/>
                    <a:pt x="6497320" y="2525776"/>
                  </a:cubicBezTo>
                  <a:lnTo>
                    <a:pt x="421005" y="2525776"/>
                  </a:lnTo>
                  <a:cubicBezTo>
                    <a:pt x="188468" y="2525776"/>
                    <a:pt x="0" y="2337308"/>
                    <a:pt x="0" y="210477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422686" y="3363049"/>
            <a:ext cx="96088" cy="1894284"/>
            <a:chOff x="0" y="0"/>
            <a:chExt cx="128118" cy="25257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143" cy="2525776"/>
            </a:xfrm>
            <a:custGeom>
              <a:avLst/>
              <a:gdLst/>
              <a:ahLst/>
              <a:cxnLst/>
              <a:rect r="r" b="b" t="t" l="l"/>
              <a:pathLst>
                <a:path h="2525776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58D68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742964" y="3628415"/>
            <a:ext cx="457560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Database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42964" y="4314749"/>
            <a:ext cx="4575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PostgreSQL • pgvector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9500" y="5765225"/>
            <a:ext cx="5188706" cy="1894284"/>
            <a:chOff x="0" y="0"/>
            <a:chExt cx="6918274" cy="25257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18325" cy="2525776"/>
            </a:xfrm>
            <a:custGeom>
              <a:avLst/>
              <a:gdLst/>
              <a:ahLst/>
              <a:cxnLst/>
              <a:rect r="r" b="b" t="t" l="l"/>
              <a:pathLst>
                <a:path h="2525776" w="6918325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lnTo>
                    <a:pt x="6497320" y="0"/>
                  </a:lnTo>
                  <a:cubicBezTo>
                    <a:pt x="6729857" y="0"/>
                    <a:pt x="6918325" y="188468"/>
                    <a:pt x="6918325" y="421005"/>
                  </a:cubicBezTo>
                  <a:lnTo>
                    <a:pt x="6918325" y="2104771"/>
                  </a:lnTo>
                  <a:cubicBezTo>
                    <a:pt x="6918325" y="2337308"/>
                    <a:pt x="6729857" y="2525776"/>
                    <a:pt x="6497320" y="2525776"/>
                  </a:cubicBezTo>
                  <a:lnTo>
                    <a:pt x="421005" y="2525776"/>
                  </a:lnTo>
                  <a:cubicBezTo>
                    <a:pt x="188468" y="2525776"/>
                    <a:pt x="0" y="2337308"/>
                    <a:pt x="0" y="210477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29500" y="5765225"/>
            <a:ext cx="96088" cy="1894284"/>
            <a:chOff x="0" y="0"/>
            <a:chExt cx="128118" cy="25257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143" cy="2525776"/>
            </a:xfrm>
            <a:custGeom>
              <a:avLst/>
              <a:gdLst/>
              <a:ahLst/>
              <a:cxnLst/>
              <a:rect r="r" b="b" t="t" l="l"/>
              <a:pathLst>
                <a:path h="2525776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FFB14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49778" y="6030592"/>
            <a:ext cx="457560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File storage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9778" y="6716925"/>
            <a:ext cx="4575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Supabase Storage • bucket privat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726098" y="5765225"/>
            <a:ext cx="5188706" cy="1894284"/>
            <a:chOff x="0" y="0"/>
            <a:chExt cx="6918274" cy="25257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18325" cy="2525776"/>
            </a:xfrm>
            <a:custGeom>
              <a:avLst/>
              <a:gdLst/>
              <a:ahLst/>
              <a:cxnLst/>
              <a:rect r="r" b="b" t="t" l="l"/>
              <a:pathLst>
                <a:path h="2525776" w="6918325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lnTo>
                    <a:pt x="6497320" y="0"/>
                  </a:lnTo>
                  <a:cubicBezTo>
                    <a:pt x="6729857" y="0"/>
                    <a:pt x="6918325" y="188468"/>
                    <a:pt x="6918325" y="421005"/>
                  </a:cubicBezTo>
                  <a:lnTo>
                    <a:pt x="6918325" y="2104771"/>
                  </a:lnTo>
                  <a:cubicBezTo>
                    <a:pt x="6918325" y="2337308"/>
                    <a:pt x="6729857" y="2525776"/>
                    <a:pt x="6497320" y="2525776"/>
                  </a:cubicBezTo>
                  <a:lnTo>
                    <a:pt x="421005" y="2525776"/>
                  </a:lnTo>
                  <a:cubicBezTo>
                    <a:pt x="188468" y="2525776"/>
                    <a:pt x="0" y="2337308"/>
                    <a:pt x="0" y="210477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726098" y="5765225"/>
            <a:ext cx="96088" cy="1894284"/>
            <a:chOff x="0" y="0"/>
            <a:chExt cx="128118" cy="25257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143" cy="2525776"/>
            </a:xfrm>
            <a:custGeom>
              <a:avLst/>
              <a:gdLst/>
              <a:ahLst/>
              <a:cxnLst/>
              <a:rect r="r" b="b" t="t" l="l"/>
              <a:pathLst>
                <a:path h="2525776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71DCD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046366" y="6030592"/>
            <a:ext cx="457560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Backend AI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046366" y="6716925"/>
            <a:ext cx="4575600" cy="73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FastAPI • Python • Pydantic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422686" y="5765225"/>
            <a:ext cx="5188706" cy="1894284"/>
            <a:chOff x="0" y="0"/>
            <a:chExt cx="6918274" cy="25257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18325" cy="2525776"/>
            </a:xfrm>
            <a:custGeom>
              <a:avLst/>
              <a:gdLst/>
              <a:ahLst/>
              <a:cxnLst/>
              <a:rect r="r" b="b" t="t" l="l"/>
              <a:pathLst>
                <a:path h="2525776" w="6918325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lnTo>
                    <a:pt x="6497320" y="0"/>
                  </a:lnTo>
                  <a:cubicBezTo>
                    <a:pt x="6729857" y="0"/>
                    <a:pt x="6918325" y="188468"/>
                    <a:pt x="6918325" y="421005"/>
                  </a:cubicBezTo>
                  <a:lnTo>
                    <a:pt x="6918325" y="2104771"/>
                  </a:lnTo>
                  <a:cubicBezTo>
                    <a:pt x="6918325" y="2337308"/>
                    <a:pt x="6729857" y="2525776"/>
                    <a:pt x="6497320" y="2525776"/>
                  </a:cubicBezTo>
                  <a:lnTo>
                    <a:pt x="421005" y="2525776"/>
                  </a:lnTo>
                  <a:cubicBezTo>
                    <a:pt x="188468" y="2525776"/>
                    <a:pt x="0" y="2337308"/>
                    <a:pt x="0" y="210477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422686" y="5765225"/>
            <a:ext cx="96088" cy="1894284"/>
            <a:chOff x="0" y="0"/>
            <a:chExt cx="128118" cy="25257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143" cy="2525776"/>
            </a:xfrm>
            <a:custGeom>
              <a:avLst/>
              <a:gdLst/>
              <a:ahLst/>
              <a:cxnLst/>
              <a:rect r="r" b="b" t="t" l="l"/>
              <a:pathLst>
                <a:path h="2525776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525776"/>
                  </a:lnTo>
                  <a:lnTo>
                    <a:pt x="0" y="2525776"/>
                  </a:lnTo>
                  <a:close/>
                </a:path>
              </a:pathLst>
            </a:custGeom>
            <a:solidFill>
              <a:srgbClr val="2CC9B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742964" y="6030592"/>
            <a:ext cx="4575600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PDF &amp; model lokal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742964" y="6716925"/>
            <a:ext cx="4575600" cy="73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PyMuPDF • Ollama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6425" y="8597494"/>
            <a:ext cx="16160963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04AAD"/>
                </a:solidFill>
                <a:latin typeface="Aptos"/>
                <a:ea typeface="Aptos"/>
                <a:cs typeface="Aptos"/>
                <a:sym typeface="Aptos"/>
              </a:rPr>
              <a:t>Embedding memakai nomic-embed-text. Model generasi menunggu uji TL-02. Stack ini menjelaskan rancangan, bukan integrasi aktual.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539906"/>
            <a:ext cx="11631139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05 • PERANCANGAN DATA &amp; KEAMANAN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0523" y="1084774"/>
            <a:ext cx="16435492" cy="8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Data dirancang mengikuti kebutuhan fitur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709" y="1967484"/>
            <a:ext cx="16298227" cy="62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4AAD"/>
                </a:solidFill>
                <a:latin typeface="Aptos"/>
                <a:ea typeface="Aptos"/>
                <a:cs typeface="Aptos"/>
                <a:sym typeface="Aptos"/>
              </a:rPr>
              <a:t>Enam tabel utama mendukung profil, tugas, dokumen, potongan teks RAG, riwayat chat, dan umpan balik.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9686" y="2772794"/>
            <a:ext cx="988324" cy="61770"/>
            <a:chOff x="0" y="0"/>
            <a:chExt cx="1317765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752" cy="82423"/>
            </a:xfrm>
            <a:custGeom>
              <a:avLst/>
              <a:gdLst/>
              <a:ahLst/>
              <a:cxnLst/>
              <a:rect r="r" b="b" t="t" l="l"/>
              <a:pathLst>
                <a:path h="82423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2CC9B7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47190" y="9727282"/>
            <a:ext cx="1267463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B9C6D8"/>
                </a:solidFill>
                <a:latin typeface="Aptos Bold"/>
                <a:ea typeface="Aptos Bold"/>
                <a:cs typeface="Aptos Bold"/>
                <a:sym typeface="Aptos Bold"/>
              </a:rPr>
              <a:t>06  /  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25588" y="3225784"/>
            <a:ext cx="7892863" cy="768696"/>
            <a:chOff x="0" y="0"/>
            <a:chExt cx="10523817" cy="1024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23855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52385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353040" y="0"/>
                  </a:lnTo>
                  <a:cubicBezTo>
                    <a:pt x="10447401" y="0"/>
                    <a:pt x="10523855" y="76454"/>
                    <a:pt x="10523855" y="170815"/>
                  </a:cubicBezTo>
                  <a:lnTo>
                    <a:pt x="10523855" y="854075"/>
                  </a:lnTo>
                  <a:cubicBezTo>
                    <a:pt x="10523855" y="948436"/>
                    <a:pt x="10447401" y="1024890"/>
                    <a:pt x="10353040" y="1024890"/>
                  </a:cubicBezTo>
                  <a:lnTo>
                    <a:pt x="170815" y="1024890"/>
                  </a:lnTo>
                  <a:cubicBezTo>
                    <a:pt x="76454" y="1024890"/>
                    <a:pt x="0" y="948436"/>
                    <a:pt x="0" y="854075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32141" y="3422513"/>
            <a:ext cx="305193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CC9B7"/>
                </a:solidFill>
                <a:latin typeface="Aptos Bold"/>
                <a:ea typeface="Aptos Bold"/>
                <a:cs typeface="Aptos Bold"/>
                <a:sym typeface="Aptos Bold"/>
              </a:rPr>
              <a:t>profil_pengguna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79474" y="3422513"/>
            <a:ext cx="4150071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Streak belajar &amp; preferensi pengguna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25588" y="4214108"/>
            <a:ext cx="7892863" cy="768696"/>
            <a:chOff x="0" y="0"/>
            <a:chExt cx="10523817" cy="1024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3855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52385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353040" y="0"/>
                  </a:lnTo>
                  <a:cubicBezTo>
                    <a:pt x="10447401" y="0"/>
                    <a:pt x="10523855" y="76454"/>
                    <a:pt x="10523855" y="170815"/>
                  </a:cubicBezTo>
                  <a:lnTo>
                    <a:pt x="10523855" y="854075"/>
                  </a:lnTo>
                  <a:cubicBezTo>
                    <a:pt x="10523855" y="948436"/>
                    <a:pt x="10447401" y="1024890"/>
                    <a:pt x="10353040" y="1024890"/>
                  </a:cubicBezTo>
                  <a:lnTo>
                    <a:pt x="170815" y="1024890"/>
                  </a:lnTo>
                  <a:cubicBezTo>
                    <a:pt x="76454" y="1024890"/>
                    <a:pt x="0" y="948436"/>
                    <a:pt x="0" y="854075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32141" y="4410837"/>
            <a:ext cx="305193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CC9B7"/>
                </a:solidFill>
                <a:latin typeface="Aptos Bold"/>
                <a:ea typeface="Aptos Bold"/>
                <a:cs typeface="Aptos Bold"/>
                <a:sym typeface="Aptos Bold"/>
              </a:rPr>
              <a:t>tugas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79474" y="4410837"/>
            <a:ext cx="4150071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Data tugas Matriks Eisenhower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25588" y="5202431"/>
            <a:ext cx="7892863" cy="768696"/>
            <a:chOff x="0" y="0"/>
            <a:chExt cx="10523817" cy="1024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23855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52385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353040" y="0"/>
                  </a:lnTo>
                  <a:cubicBezTo>
                    <a:pt x="10447401" y="0"/>
                    <a:pt x="10523855" y="76454"/>
                    <a:pt x="10523855" y="170815"/>
                  </a:cubicBezTo>
                  <a:lnTo>
                    <a:pt x="10523855" y="854075"/>
                  </a:lnTo>
                  <a:cubicBezTo>
                    <a:pt x="10523855" y="948436"/>
                    <a:pt x="10447401" y="1024890"/>
                    <a:pt x="10353040" y="1024890"/>
                  </a:cubicBezTo>
                  <a:lnTo>
                    <a:pt x="170815" y="1024890"/>
                  </a:lnTo>
                  <a:cubicBezTo>
                    <a:pt x="76454" y="1024890"/>
                    <a:pt x="0" y="948436"/>
                    <a:pt x="0" y="854075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32141" y="5399161"/>
            <a:ext cx="305193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CC9B7"/>
                </a:solidFill>
                <a:latin typeface="Aptos Bold"/>
                <a:ea typeface="Aptos Bold"/>
                <a:cs typeface="Aptos Bold"/>
                <a:sym typeface="Aptos Bold"/>
              </a:rPr>
              <a:t>dokumen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79474" y="5399161"/>
            <a:ext cx="4150071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Metadata PDF, status &amp; ringkasan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25588" y="6190755"/>
            <a:ext cx="7892863" cy="768696"/>
            <a:chOff x="0" y="0"/>
            <a:chExt cx="10523817" cy="10249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23855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52385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353040" y="0"/>
                  </a:lnTo>
                  <a:cubicBezTo>
                    <a:pt x="10447401" y="0"/>
                    <a:pt x="10523855" y="76454"/>
                    <a:pt x="10523855" y="170815"/>
                  </a:cubicBezTo>
                  <a:lnTo>
                    <a:pt x="10523855" y="854075"/>
                  </a:lnTo>
                  <a:cubicBezTo>
                    <a:pt x="10523855" y="948436"/>
                    <a:pt x="10447401" y="1024890"/>
                    <a:pt x="10353040" y="1024890"/>
                  </a:cubicBezTo>
                  <a:lnTo>
                    <a:pt x="170815" y="1024890"/>
                  </a:lnTo>
                  <a:cubicBezTo>
                    <a:pt x="76454" y="1024890"/>
                    <a:pt x="0" y="948436"/>
                    <a:pt x="0" y="854075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32141" y="6387484"/>
            <a:ext cx="305193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CC9B7"/>
                </a:solidFill>
                <a:latin typeface="Aptos Bold"/>
                <a:ea typeface="Aptos Bold"/>
                <a:cs typeface="Aptos Bold"/>
                <a:sym typeface="Aptos Bold"/>
              </a:rPr>
              <a:t>potongan_dokumen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79474" y="6387484"/>
            <a:ext cx="4150071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Chunk teks, halaman, embedding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25588" y="7179078"/>
            <a:ext cx="7892863" cy="768696"/>
            <a:chOff x="0" y="0"/>
            <a:chExt cx="10523817" cy="10249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23855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52385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353040" y="0"/>
                  </a:lnTo>
                  <a:cubicBezTo>
                    <a:pt x="10447401" y="0"/>
                    <a:pt x="10523855" y="76454"/>
                    <a:pt x="10523855" y="170815"/>
                  </a:cubicBezTo>
                  <a:lnTo>
                    <a:pt x="10523855" y="854075"/>
                  </a:lnTo>
                  <a:cubicBezTo>
                    <a:pt x="10523855" y="948436"/>
                    <a:pt x="10447401" y="1024890"/>
                    <a:pt x="10353040" y="1024890"/>
                  </a:cubicBezTo>
                  <a:lnTo>
                    <a:pt x="170815" y="1024890"/>
                  </a:lnTo>
                  <a:cubicBezTo>
                    <a:pt x="76454" y="1024890"/>
                    <a:pt x="0" y="948436"/>
                    <a:pt x="0" y="854075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32141" y="7375808"/>
            <a:ext cx="305193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CC9B7"/>
                </a:solidFill>
                <a:latin typeface="Aptos Bold"/>
                <a:ea typeface="Aptos Bold"/>
                <a:cs typeface="Aptos Bold"/>
                <a:sym typeface="Aptos Bold"/>
              </a:rPr>
              <a:t>pesan_chat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79474" y="7375808"/>
            <a:ext cx="4150071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Pesan chat &amp; sumber halaman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25588" y="8167401"/>
            <a:ext cx="7892863" cy="768696"/>
            <a:chOff x="0" y="0"/>
            <a:chExt cx="10523817" cy="10249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523855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523855">
                  <a:moveTo>
                    <a:pt x="0" y="170815"/>
                  </a:moveTo>
                  <a:cubicBezTo>
                    <a:pt x="0" y="76454"/>
                    <a:pt x="76454" y="0"/>
                    <a:pt x="170815" y="0"/>
                  </a:cubicBezTo>
                  <a:lnTo>
                    <a:pt x="10353040" y="0"/>
                  </a:lnTo>
                  <a:cubicBezTo>
                    <a:pt x="10447401" y="0"/>
                    <a:pt x="10523855" y="76454"/>
                    <a:pt x="10523855" y="170815"/>
                  </a:cubicBezTo>
                  <a:lnTo>
                    <a:pt x="10523855" y="854075"/>
                  </a:lnTo>
                  <a:cubicBezTo>
                    <a:pt x="10523855" y="948436"/>
                    <a:pt x="10447401" y="1024890"/>
                    <a:pt x="10353040" y="1024890"/>
                  </a:cubicBezTo>
                  <a:lnTo>
                    <a:pt x="170815" y="1024890"/>
                  </a:lnTo>
                  <a:cubicBezTo>
                    <a:pt x="76454" y="1024890"/>
                    <a:pt x="0" y="948436"/>
                    <a:pt x="0" y="854075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32141" y="8364131"/>
            <a:ext cx="3051934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CC9B7"/>
                </a:solidFill>
                <a:latin typeface="Aptos Bold"/>
                <a:ea typeface="Aptos Bold"/>
                <a:cs typeface="Aptos Bold"/>
                <a:sym typeface="Aptos Bold"/>
              </a:rPr>
              <a:t>umpan_balik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479474" y="8364131"/>
            <a:ext cx="4150071" cy="33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Feedback &amp; laporan bug pengguna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3294412"/>
            <a:ext cx="7206529" cy="1990373"/>
            <a:chOff x="0" y="0"/>
            <a:chExt cx="9608706" cy="26538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08693" cy="2653919"/>
            </a:xfrm>
            <a:custGeom>
              <a:avLst/>
              <a:gdLst/>
              <a:ahLst/>
              <a:cxnLst/>
              <a:rect r="r" b="b" t="t" l="l"/>
              <a:pathLst>
                <a:path h="2653919" w="9608693">
                  <a:moveTo>
                    <a:pt x="0" y="442341"/>
                  </a:moveTo>
                  <a:cubicBezTo>
                    <a:pt x="0" y="197993"/>
                    <a:pt x="197993" y="0"/>
                    <a:pt x="442341" y="0"/>
                  </a:cubicBezTo>
                  <a:lnTo>
                    <a:pt x="9166352" y="0"/>
                  </a:lnTo>
                  <a:cubicBezTo>
                    <a:pt x="9410700" y="0"/>
                    <a:pt x="9608693" y="197993"/>
                    <a:pt x="9608693" y="442341"/>
                  </a:cubicBezTo>
                  <a:lnTo>
                    <a:pt x="9608693" y="2211578"/>
                  </a:lnTo>
                  <a:cubicBezTo>
                    <a:pt x="9608693" y="2455799"/>
                    <a:pt x="9410700" y="2653919"/>
                    <a:pt x="9166352" y="2653919"/>
                  </a:cubicBezTo>
                  <a:lnTo>
                    <a:pt x="442341" y="2653919"/>
                  </a:lnTo>
                  <a:cubicBezTo>
                    <a:pt x="197993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77343" y="3294412"/>
            <a:ext cx="96088" cy="1990373"/>
            <a:chOff x="0" y="0"/>
            <a:chExt cx="128118" cy="26538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143" cy="2653792"/>
            </a:xfrm>
            <a:custGeom>
              <a:avLst/>
              <a:gdLst/>
              <a:ahLst/>
              <a:cxnLst/>
              <a:rect r="r" b="b" t="t" l="l"/>
              <a:pathLst>
                <a:path h="265379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2CC9B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997621" y="3559778"/>
            <a:ext cx="6593434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Kontrol akses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97621" y="4246121"/>
            <a:ext cx="6593434" cy="82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AI via route handler Next.js (DD-01). FastAPI memakai JWT pengguna tanpa service role (DD-02); akses dokumen lain → 404 (DD-04).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00500"/>
            <a:ext cx="7206529" cy="1990373"/>
            <a:chOff x="0" y="0"/>
            <a:chExt cx="9608706" cy="26538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608693" cy="2653919"/>
            </a:xfrm>
            <a:custGeom>
              <a:avLst/>
              <a:gdLst/>
              <a:ahLst/>
              <a:cxnLst/>
              <a:rect r="r" b="b" t="t" l="l"/>
              <a:pathLst>
                <a:path h="2653919" w="9608693">
                  <a:moveTo>
                    <a:pt x="0" y="442341"/>
                  </a:moveTo>
                  <a:cubicBezTo>
                    <a:pt x="0" y="197993"/>
                    <a:pt x="197993" y="0"/>
                    <a:pt x="442341" y="0"/>
                  </a:cubicBezTo>
                  <a:lnTo>
                    <a:pt x="9166352" y="0"/>
                  </a:lnTo>
                  <a:cubicBezTo>
                    <a:pt x="9410700" y="0"/>
                    <a:pt x="9608693" y="197993"/>
                    <a:pt x="9608693" y="442341"/>
                  </a:cubicBezTo>
                  <a:lnTo>
                    <a:pt x="9608693" y="2211578"/>
                  </a:lnTo>
                  <a:cubicBezTo>
                    <a:pt x="9608693" y="2455799"/>
                    <a:pt x="9410700" y="2653919"/>
                    <a:pt x="9166352" y="2653919"/>
                  </a:cubicBezTo>
                  <a:lnTo>
                    <a:pt x="442341" y="2653919"/>
                  </a:lnTo>
                  <a:cubicBezTo>
                    <a:pt x="197993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77343" y="5600500"/>
            <a:ext cx="96088" cy="1990373"/>
            <a:chOff x="0" y="0"/>
            <a:chExt cx="128118" cy="26538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143" cy="2653792"/>
            </a:xfrm>
            <a:custGeom>
              <a:avLst/>
              <a:gdLst/>
              <a:ahLst/>
              <a:cxnLst/>
              <a:rect r="r" b="b" t="t" l="l"/>
              <a:pathLst>
                <a:path h="265379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58D68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997621" y="5865876"/>
            <a:ext cx="6593434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Privasi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97621" y="6552209"/>
            <a:ext cx="6593434" cy="82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RLS aktif membatasi pengguna pada data miliknya, termasuk saat membaca, mengubah, dan menghapus.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77343" y="7906598"/>
            <a:ext cx="7206529" cy="1325880"/>
            <a:chOff x="0" y="0"/>
            <a:chExt cx="9608706" cy="14641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08820" cy="1464183"/>
            </a:xfrm>
            <a:custGeom>
              <a:avLst/>
              <a:gdLst/>
              <a:ahLst/>
              <a:cxnLst/>
              <a:rect r="r" b="b" t="t" l="l"/>
              <a:pathLst>
                <a:path h="1464183" w="9608820">
                  <a:moveTo>
                    <a:pt x="0" y="244094"/>
                  </a:moveTo>
                  <a:cubicBezTo>
                    <a:pt x="0" y="109220"/>
                    <a:pt x="109220" y="0"/>
                    <a:pt x="244094" y="0"/>
                  </a:cubicBezTo>
                  <a:lnTo>
                    <a:pt x="9364726" y="0"/>
                  </a:lnTo>
                  <a:cubicBezTo>
                    <a:pt x="9499473" y="0"/>
                    <a:pt x="9608820" y="109220"/>
                    <a:pt x="9608820" y="244094"/>
                  </a:cubicBezTo>
                  <a:lnTo>
                    <a:pt x="9608820" y="1220089"/>
                  </a:lnTo>
                  <a:cubicBezTo>
                    <a:pt x="9608820" y="1354836"/>
                    <a:pt x="9499600" y="1464183"/>
                    <a:pt x="9364726" y="1464183"/>
                  </a:cubicBezTo>
                  <a:lnTo>
                    <a:pt x="244094" y="1464183"/>
                  </a:lnTo>
                  <a:cubicBezTo>
                    <a:pt x="109220" y="1464183"/>
                    <a:pt x="0" y="1354963"/>
                    <a:pt x="0" y="1220089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77343" y="7906598"/>
            <a:ext cx="96088" cy="1325880"/>
            <a:chOff x="0" y="0"/>
            <a:chExt cx="128118" cy="146418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143" cy="1464183"/>
            </a:xfrm>
            <a:custGeom>
              <a:avLst/>
              <a:gdLst/>
              <a:ahLst/>
              <a:cxnLst/>
              <a:rect r="r" b="b" t="t" l="l"/>
              <a:pathLst>
                <a:path h="1464183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464183"/>
                  </a:lnTo>
                  <a:lnTo>
                    <a:pt x="0" y="1464183"/>
                  </a:lnTo>
                  <a:close/>
                </a:path>
              </a:pathLst>
            </a:custGeom>
            <a:solidFill>
              <a:srgbClr val="FFB14A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997621" y="8162439"/>
            <a:ext cx="6593434" cy="49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Batasan unggah</a:t>
            </a:r>
          </a:p>
        </p:txBody>
      </p:sp>
      <p:sp>
        <p:nvSpPr>
          <p:cNvPr id="45" name="Upload limits detail"/>
          <p:cNvSpPr txBox="1"/>
          <p:nvPr/>
        </p:nvSpPr>
        <p:spPr>
          <a:xfrm>
            <a:off x="9997621" y="8705088"/>
            <a:ext cx="659343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B9C6D8"/>
                </a:solidFill>
                <a:latin typeface="Aptos"/>
              </a:rPr>
              <a:t>PDF (%PDF-) maks. 5 MB, 20 halaman pertama, 10 dokumen/akun.
Chunk ±500/±50 token, retrieval top-5 (threshold 0.5).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0523" y="539906"/>
            <a:ext cx="11631139" cy="34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06 • PROGRESS &amp; LANGKAH BERIKUTNYA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0523" y="1084774"/>
            <a:ext cx="16435492" cy="804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004AAD"/>
                </a:solidFill>
                <a:latin typeface="Aptos Bold"/>
                <a:ea typeface="Aptos Bold"/>
                <a:cs typeface="Aptos Bold"/>
                <a:sym typeface="Aptos Bold"/>
              </a:rPr>
              <a:t>Progress yang terdokumentasi saat ini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709" y="1967484"/>
            <a:ext cx="16298227" cy="62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04AAD"/>
                </a:solidFill>
                <a:latin typeface="Aptos"/>
                <a:ea typeface="Aptos"/>
                <a:cs typeface="Aptos"/>
                <a:sym typeface="Aptos"/>
              </a:rPr>
              <a:t>SKPL v1.3 &amp; DPPL v1.3 (7 Okt 2026) menunggu ACC tim. Repo saat ini pada tahap scaffolding awal (Next.js &amp; FastAPI).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9686" y="2772794"/>
            <a:ext cx="988324" cy="61770"/>
            <a:chOff x="0" y="0"/>
            <a:chExt cx="1317765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7752" cy="82423"/>
            </a:xfrm>
            <a:custGeom>
              <a:avLst/>
              <a:gdLst/>
              <a:ahLst/>
              <a:cxnLst/>
              <a:rect r="r" b="b" t="t" l="l"/>
              <a:pathLst>
                <a:path h="82423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1B2B4C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47190" y="9727282"/>
            <a:ext cx="1267463" cy="220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B9C6D8"/>
                </a:solidFill>
                <a:latin typeface="Aptos Bold"/>
                <a:ea typeface="Aptos Bold"/>
                <a:cs typeface="Aptos Bold"/>
                <a:sym typeface="Aptos Bold"/>
              </a:rPr>
              <a:t>07  /  07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9500" y="3294412"/>
            <a:ext cx="7961500" cy="4872990"/>
            <a:chOff x="0" y="0"/>
            <a:chExt cx="10615333" cy="6497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295" cy="6497320"/>
            </a:xfrm>
            <a:custGeom>
              <a:avLst/>
              <a:gdLst/>
              <a:ahLst/>
              <a:cxnLst/>
              <a:rect r="r" b="b" t="t" l="l"/>
              <a:pathLst>
                <a:path h="6497320" w="10615295">
                  <a:moveTo>
                    <a:pt x="0" y="1082929"/>
                  </a:moveTo>
                  <a:cubicBezTo>
                    <a:pt x="0" y="484886"/>
                    <a:pt x="484886" y="0"/>
                    <a:pt x="1082929" y="0"/>
                  </a:cubicBezTo>
                  <a:lnTo>
                    <a:pt x="9532366" y="0"/>
                  </a:lnTo>
                  <a:cubicBezTo>
                    <a:pt x="10130410" y="0"/>
                    <a:pt x="10615295" y="484886"/>
                    <a:pt x="10615295" y="1082929"/>
                  </a:cubicBezTo>
                  <a:lnTo>
                    <a:pt x="10615295" y="5414391"/>
                  </a:lnTo>
                  <a:cubicBezTo>
                    <a:pt x="10615295" y="6012434"/>
                    <a:pt x="10130410" y="6497320"/>
                    <a:pt x="9532366" y="6497320"/>
                  </a:cubicBezTo>
                  <a:lnTo>
                    <a:pt x="1082929" y="6497320"/>
                  </a:lnTo>
                  <a:cubicBezTo>
                    <a:pt x="484886" y="6497320"/>
                    <a:pt x="0" y="6012434"/>
                    <a:pt x="0" y="541439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500" y="3294412"/>
            <a:ext cx="96088" cy="4872990"/>
            <a:chOff x="0" y="0"/>
            <a:chExt cx="128118" cy="6497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143" cy="6497320"/>
            </a:xfrm>
            <a:custGeom>
              <a:avLst/>
              <a:gdLst/>
              <a:ahLst/>
              <a:cxnLst/>
              <a:rect r="r" b="b" t="t" l="l"/>
              <a:pathLst>
                <a:path h="649732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6497320"/>
                  </a:lnTo>
                  <a:lnTo>
                    <a:pt x="0" y="6497320"/>
                  </a:lnTo>
                  <a:close/>
                </a:path>
              </a:pathLst>
            </a:custGeom>
            <a:solidFill>
              <a:srgbClr val="58D68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49778" y="3559778"/>
            <a:ext cx="7348404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Dirancang dalam DPPL v1.3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9778" y="4198496"/>
            <a:ext cx="7348404" cy="375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9C6D8"/>
                </a:solidFill>
                <a:latin typeface="Calibri (MS)"/>
                <a:ea typeface="Calibri (MS)"/>
                <a:cs typeface="Calibri (MS)"/>
                <a:sym typeface="Calibri (MS)"/>
              </a:rPr>
              <a:t>✓ Lingkup demo dan kebutuhan ditetapkan pada SKPL v1.3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9C6D8"/>
                </a:solidFill>
                <a:latin typeface="Calibri (MS)"/>
                <a:ea typeface="Calibri (MS)"/>
                <a:cs typeface="Calibri (MS)"/>
                <a:sym typeface="Calibri (MS)"/>
              </a:rPr>
              <a:t>✓ Arsitektur, modul, dan deployment lokal dirancang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9C6D8"/>
                </a:solidFill>
                <a:latin typeface="Calibri (MS)"/>
                <a:ea typeface="Calibri (MS)"/>
                <a:cs typeface="Calibri (MS)"/>
                <a:sym typeface="Calibri (MS)"/>
              </a:rPr>
              <a:t>✓ Skema 6 tabel, RLS, API, dan sequence dijabarkan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9C6D8"/>
                </a:solidFill>
                <a:latin typeface="Calibri (MS)"/>
                <a:ea typeface="Calibri (MS)"/>
                <a:cs typeface="Calibri (MS)"/>
                <a:sym typeface="Calibri (MS)"/>
              </a:rPr>
              <a:t>✓ Keputusan desain DD-01 s.d. DD-05 ditetapkan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9C6D8"/>
                </a:solidFill>
                <a:latin typeface="Calibri (MS)"/>
                <a:ea typeface="Calibri (MS)"/>
                <a:cs typeface="Calibri (MS)"/>
                <a:sym typeface="Calibri (MS)"/>
              </a:rPr>
              <a:t>✓ Alur PDF, ringkasan, RAG, dan chat dipetakan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9C6D8"/>
                </a:solidFill>
                <a:latin typeface="Calibri (MS)"/>
                <a:ea typeface="Calibri (MS)"/>
                <a:cs typeface="Calibri (MS)"/>
                <a:sym typeface="Calibri (MS)"/>
              </a:rPr>
              <a:t>✓ Class diagram &amp; traceability SKPL–DPPL tersedia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34176" y="3294412"/>
            <a:ext cx="7961500" cy="4872990"/>
            <a:chOff x="0" y="0"/>
            <a:chExt cx="10615333" cy="64973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15295" cy="6497320"/>
            </a:xfrm>
            <a:custGeom>
              <a:avLst/>
              <a:gdLst/>
              <a:ahLst/>
              <a:cxnLst/>
              <a:rect r="r" b="b" t="t" l="l"/>
              <a:pathLst>
                <a:path h="6497320" w="10615295">
                  <a:moveTo>
                    <a:pt x="0" y="1082929"/>
                  </a:moveTo>
                  <a:cubicBezTo>
                    <a:pt x="0" y="484886"/>
                    <a:pt x="484886" y="0"/>
                    <a:pt x="1082929" y="0"/>
                  </a:cubicBezTo>
                  <a:lnTo>
                    <a:pt x="9532366" y="0"/>
                  </a:lnTo>
                  <a:cubicBezTo>
                    <a:pt x="10130410" y="0"/>
                    <a:pt x="10615295" y="484886"/>
                    <a:pt x="10615295" y="1082929"/>
                  </a:cubicBezTo>
                  <a:lnTo>
                    <a:pt x="10615295" y="5414391"/>
                  </a:lnTo>
                  <a:cubicBezTo>
                    <a:pt x="10615295" y="6012434"/>
                    <a:pt x="10130410" y="6497320"/>
                    <a:pt x="9532366" y="6497320"/>
                  </a:cubicBezTo>
                  <a:lnTo>
                    <a:pt x="1082929" y="6497320"/>
                  </a:lnTo>
                  <a:cubicBezTo>
                    <a:pt x="484886" y="6497320"/>
                    <a:pt x="0" y="6012434"/>
                    <a:pt x="0" y="5414391"/>
                  </a:cubicBezTo>
                  <a:close/>
                </a:path>
              </a:pathLst>
            </a:custGeom>
            <a:solidFill>
              <a:srgbClr val="1B2B4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34176" y="3294412"/>
            <a:ext cx="96088" cy="4872990"/>
            <a:chOff x="0" y="0"/>
            <a:chExt cx="128118" cy="64973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143" cy="6497320"/>
            </a:xfrm>
            <a:custGeom>
              <a:avLst/>
              <a:gdLst/>
              <a:ahLst/>
              <a:cxnLst/>
              <a:rect r="r" b="b" t="t" l="l"/>
              <a:pathLst>
                <a:path h="649732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6497320"/>
                  </a:lnTo>
                  <a:lnTo>
                    <a:pt x="0" y="6497320"/>
                  </a:lnTo>
                  <a:close/>
                </a:path>
              </a:pathLst>
            </a:custGeom>
            <a:solidFill>
              <a:srgbClr val="FFB14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654445" y="3559778"/>
            <a:ext cx="7348404" cy="48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8FAFC"/>
                </a:solidFill>
                <a:latin typeface="Aptos Bold"/>
                <a:ea typeface="Aptos Bold"/>
                <a:cs typeface="Aptos Bold"/>
                <a:sym typeface="Aptos Bold"/>
              </a:rPr>
              <a:t>Tindak lanjut pada SKPL v1.3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4445" y="4246121"/>
            <a:ext cx="7348404" cy="3710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1. Konfirmasi spesifikasi mesin demo (TL-01)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2. Uji retrieval Indonesia untuk nomic-embed-text (6.4.8)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3. Pilih model generasi ~4B setelah uji kandidat (TL-02)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4. Setup Supabase (6 tabel, RLS, pgvector, bucket privat)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5. Implementasi fitur inti &amp; ukur waktu chat (NFR-PERF-01)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9C6D8"/>
                </a:solidFill>
                <a:latin typeface="Aptos"/>
                <a:ea typeface="Aptos"/>
                <a:cs typeface="Aptos"/>
                <a:sym typeface="Aptos"/>
              </a:rPr>
              <a:t>6. Cocokkan implementasi dan bukti demo dengan rancangan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DAHV6KKtuE8</dc:identifier>
  <dcterms:modified xsi:type="dcterms:W3CDTF">2011-08-01T06:04:30Z</dcterms:modified>
  <cp:revision>1</cp:revision>
  <dc:title>Mahasiswa perlu memilah tugas berdasarkan tingkat kepentingan dan urgensi agar prioritas lebih jelas.</dc:title>
</cp:coreProperties>
</file>